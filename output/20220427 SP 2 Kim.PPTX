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25F_B6893F55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3"/>
  </p:notesMasterIdLst>
  <p:sldIdLst>
    <p:sldId id="607" r:id="rId2"/>
    <p:sldId id="611" r:id="rId3"/>
    <p:sldId id="586" r:id="rId4"/>
    <p:sldId id="599" r:id="rId5"/>
    <p:sldId id="604" r:id="rId6"/>
    <p:sldId id="608" r:id="rId7"/>
    <p:sldId id="610" r:id="rId8"/>
    <p:sldId id="609" r:id="rId9"/>
    <p:sldId id="602" r:id="rId10"/>
    <p:sldId id="273" r:id="rId11"/>
    <p:sldId id="6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E55F2F-270A-54BC-6F0D-4826172FFBEA}" name="Denise Ridolfo" initials="DR" userId="91dc252c99870065" providerId="Windows Live"/>
  <p188:author id="{253AB777-DCC6-643A-150A-B3A6D2EF1A93}" name="Scott Shadley" initials="SS" userId="Scott Shadle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1036"/>
    <a:srgbClr val="D6BBEB"/>
    <a:srgbClr val="080A43"/>
    <a:srgbClr val="BE1281"/>
    <a:srgbClr val="EE4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70EB74-9488-43EB-8C7E-F5FFE8D4B866}" v="16" dt="2022-04-27T15:17:08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29" autoAdjust="0"/>
    <p:restoredTop sz="93202" autoAdjust="0"/>
  </p:normalViewPr>
  <p:slideViewPr>
    <p:cSldViewPr snapToGrid="0">
      <p:cViewPr varScale="1">
        <p:scale>
          <a:sx n="106" d="100"/>
          <a:sy n="106" d="100"/>
        </p:scale>
        <p:origin x="420" y="108"/>
      </p:cViewPr>
      <p:guideLst/>
    </p:cSldViewPr>
  </p:slideViewPr>
  <p:outlineViewPr>
    <p:cViewPr>
      <p:scale>
        <a:sx n="33" d="100"/>
        <a:sy n="33" d="100"/>
      </p:scale>
      <p:origin x="0" y="-8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F. Kim" userId="fe57e153-1e57-44b5-be78-51ae00d5a29c" providerId="ADAL" clId="{B570EB74-9488-43EB-8C7E-F5FFE8D4B866}"/>
    <pc:docChg chg="undo custSel addSld modSld sldOrd">
      <pc:chgData name="John F. Kim" userId="fe57e153-1e57-44b5-be78-51ae00d5a29c" providerId="ADAL" clId="{B570EB74-9488-43EB-8C7E-F5FFE8D4B866}" dt="2022-04-27T15:17:20.856" v="361" actId="1076"/>
      <pc:docMkLst>
        <pc:docMk/>
      </pc:docMkLst>
      <pc:sldChg chg="mod ord modShow">
        <pc:chgData name="John F. Kim" userId="fe57e153-1e57-44b5-be78-51ae00d5a29c" providerId="ADAL" clId="{B570EB74-9488-43EB-8C7E-F5FFE8D4B866}" dt="2022-04-27T14:53:52.300" v="119"/>
        <pc:sldMkLst>
          <pc:docMk/>
          <pc:sldMk cId="3284302667" sldId="605"/>
        </pc:sldMkLst>
      </pc:sldChg>
      <pc:sldChg chg="addSp delSp modSp new mod">
        <pc:chgData name="John F. Kim" userId="fe57e153-1e57-44b5-be78-51ae00d5a29c" providerId="ADAL" clId="{B570EB74-9488-43EB-8C7E-F5FFE8D4B866}" dt="2022-04-27T15:17:20.856" v="361" actId="1076"/>
        <pc:sldMkLst>
          <pc:docMk/>
          <pc:sldMk cId="733333413" sldId="610"/>
        </pc:sldMkLst>
        <pc:spChg chg="mod">
          <ac:chgData name="John F. Kim" userId="fe57e153-1e57-44b5-be78-51ae00d5a29c" providerId="ADAL" clId="{B570EB74-9488-43EB-8C7E-F5FFE8D4B866}" dt="2022-04-27T14:54:40.345" v="154" actId="20577"/>
          <ac:spMkLst>
            <pc:docMk/>
            <pc:sldMk cId="733333413" sldId="610"/>
            <ac:spMk id="2" creationId="{4EBE1ABE-BCA0-4D58-8B36-8C0D585180BB}"/>
          </ac:spMkLst>
        </pc:spChg>
        <pc:spChg chg="mod">
          <ac:chgData name="John F. Kim" userId="fe57e153-1e57-44b5-be78-51ae00d5a29c" providerId="ADAL" clId="{B570EB74-9488-43EB-8C7E-F5FFE8D4B866}" dt="2022-04-27T15:13:07.429" v="338" actId="6549"/>
          <ac:spMkLst>
            <pc:docMk/>
            <pc:sldMk cId="733333413" sldId="610"/>
            <ac:spMk id="3" creationId="{4207E328-CBD9-49D6-B3D2-C0984A8EF3D5}"/>
          </ac:spMkLst>
        </pc:spChg>
        <pc:picChg chg="add del mod">
          <ac:chgData name="John F. Kim" userId="fe57e153-1e57-44b5-be78-51ae00d5a29c" providerId="ADAL" clId="{B570EB74-9488-43EB-8C7E-F5FFE8D4B866}" dt="2022-04-27T15:03:51.619" v="283"/>
          <ac:picMkLst>
            <pc:docMk/>
            <pc:sldMk cId="733333413" sldId="610"/>
            <ac:picMk id="4" creationId="{6DE2CEBB-4FDC-4410-A185-2A979DDBD752}"/>
          </ac:picMkLst>
        </pc:picChg>
        <pc:picChg chg="add mod">
          <ac:chgData name="John F. Kim" userId="fe57e153-1e57-44b5-be78-51ae00d5a29c" providerId="ADAL" clId="{B570EB74-9488-43EB-8C7E-F5FFE8D4B866}" dt="2022-04-27T15:14:06.294" v="346" actId="1076"/>
          <ac:picMkLst>
            <pc:docMk/>
            <pc:sldMk cId="733333413" sldId="610"/>
            <ac:picMk id="5" creationId="{0C814252-F106-4424-A909-8F6951930843}"/>
          </ac:picMkLst>
        </pc:picChg>
        <pc:picChg chg="add del mod">
          <ac:chgData name="John F. Kim" userId="fe57e153-1e57-44b5-be78-51ae00d5a29c" providerId="ADAL" clId="{B570EB74-9488-43EB-8C7E-F5FFE8D4B866}" dt="2022-04-27T15:14:00.572" v="344" actId="478"/>
          <ac:picMkLst>
            <pc:docMk/>
            <pc:sldMk cId="733333413" sldId="610"/>
            <ac:picMk id="6" creationId="{AF990BE6-D7F1-4F39-9278-C5A4E301AD97}"/>
          </ac:picMkLst>
        </pc:picChg>
        <pc:picChg chg="add del mod">
          <ac:chgData name="John F. Kim" userId="fe57e153-1e57-44b5-be78-51ae00d5a29c" providerId="ADAL" clId="{B570EB74-9488-43EB-8C7E-F5FFE8D4B866}" dt="2022-04-27T15:13:11.593" v="339" actId="478"/>
          <ac:picMkLst>
            <pc:docMk/>
            <pc:sldMk cId="733333413" sldId="610"/>
            <ac:picMk id="7" creationId="{4DFF8E1D-08B6-4D89-B05A-CCD9F69F59F1}"/>
          </ac:picMkLst>
        </pc:picChg>
        <pc:picChg chg="add mod">
          <ac:chgData name="John F. Kim" userId="fe57e153-1e57-44b5-be78-51ae00d5a29c" providerId="ADAL" clId="{B570EB74-9488-43EB-8C7E-F5FFE8D4B866}" dt="2022-04-27T15:17:20.856" v="361" actId="1076"/>
          <ac:picMkLst>
            <pc:docMk/>
            <pc:sldMk cId="733333413" sldId="610"/>
            <ac:picMk id="8" creationId="{59FD752C-1447-4A06-8742-AF4BD7761FC7}"/>
          </ac:picMkLst>
        </pc:picChg>
        <pc:picChg chg="add mod">
          <ac:chgData name="John F. Kim" userId="fe57e153-1e57-44b5-be78-51ae00d5a29c" providerId="ADAL" clId="{B570EB74-9488-43EB-8C7E-F5FFE8D4B866}" dt="2022-04-27T15:16:02.225" v="352" actId="1076"/>
          <ac:picMkLst>
            <pc:docMk/>
            <pc:sldMk cId="733333413" sldId="610"/>
            <ac:picMk id="9" creationId="{C3AEE95A-5C60-4169-B508-80B26BD191F2}"/>
          </ac:picMkLst>
        </pc:picChg>
        <pc:picChg chg="add del mod">
          <ac:chgData name="John F. Kim" userId="fe57e153-1e57-44b5-be78-51ae00d5a29c" providerId="ADAL" clId="{B570EB74-9488-43EB-8C7E-F5FFE8D4B866}" dt="2022-04-27T15:16:57.692" v="356" actId="478"/>
          <ac:picMkLst>
            <pc:docMk/>
            <pc:sldMk cId="733333413" sldId="610"/>
            <ac:picMk id="10" creationId="{B76DB30D-2D5D-4511-BD57-5B8A3E3CE774}"/>
          </ac:picMkLst>
        </pc:picChg>
        <pc:picChg chg="add mod">
          <ac:chgData name="John F. Kim" userId="fe57e153-1e57-44b5-be78-51ae00d5a29c" providerId="ADAL" clId="{B570EB74-9488-43EB-8C7E-F5FFE8D4B866}" dt="2022-04-27T15:13:37.470" v="343"/>
          <ac:picMkLst>
            <pc:docMk/>
            <pc:sldMk cId="733333413" sldId="610"/>
            <ac:picMk id="11" creationId="{9688F416-E265-4109-BFBB-59507BA9DFBF}"/>
          </ac:picMkLst>
        </pc:picChg>
        <pc:picChg chg="add mod">
          <ac:chgData name="John F. Kim" userId="fe57e153-1e57-44b5-be78-51ae00d5a29c" providerId="ADAL" clId="{B570EB74-9488-43EB-8C7E-F5FFE8D4B866}" dt="2022-04-27T15:15:59.956" v="351" actId="1076"/>
          <ac:picMkLst>
            <pc:docMk/>
            <pc:sldMk cId="733333413" sldId="610"/>
            <ac:picMk id="12" creationId="{D3F58D95-E6F7-4406-94C5-238D32D33BF1}"/>
          </ac:picMkLst>
        </pc:picChg>
        <pc:picChg chg="add mod">
          <ac:chgData name="John F. Kim" userId="fe57e153-1e57-44b5-be78-51ae00d5a29c" providerId="ADAL" clId="{B570EB74-9488-43EB-8C7E-F5FFE8D4B866}" dt="2022-04-27T15:17:08.273" v="359"/>
          <ac:picMkLst>
            <pc:docMk/>
            <pc:sldMk cId="733333413" sldId="610"/>
            <ac:picMk id="13" creationId="{E1EBCBEB-1E37-434A-A644-AF374A8D0B14}"/>
          </ac:picMkLst>
        </pc:picChg>
      </pc:sldChg>
      <pc:sldChg chg="addSp delSp modSp new mod modClrScheme chgLayout">
        <pc:chgData name="John F. Kim" userId="fe57e153-1e57-44b5-be78-51ae00d5a29c" providerId="ADAL" clId="{B570EB74-9488-43EB-8C7E-F5FFE8D4B866}" dt="2022-04-27T14:53:11.835" v="117" actId="6549"/>
        <pc:sldMkLst>
          <pc:docMk/>
          <pc:sldMk cId="1588721188" sldId="611"/>
        </pc:sldMkLst>
        <pc:spChg chg="add del mod ord">
          <ac:chgData name="John F. Kim" userId="fe57e153-1e57-44b5-be78-51ae00d5a29c" providerId="ADAL" clId="{B570EB74-9488-43EB-8C7E-F5FFE8D4B866}" dt="2022-04-27T14:51:16.656" v="4" actId="700"/>
          <ac:spMkLst>
            <pc:docMk/>
            <pc:sldMk cId="1588721188" sldId="611"/>
            <ac:spMk id="2" creationId="{10D2D685-4417-47C5-9424-2A7C76408FAD}"/>
          </ac:spMkLst>
        </pc:spChg>
        <pc:spChg chg="add del mod ord">
          <ac:chgData name="John F. Kim" userId="fe57e153-1e57-44b5-be78-51ae00d5a29c" providerId="ADAL" clId="{B570EB74-9488-43EB-8C7E-F5FFE8D4B866}" dt="2022-04-27T14:51:16.656" v="4" actId="700"/>
          <ac:spMkLst>
            <pc:docMk/>
            <pc:sldMk cId="1588721188" sldId="611"/>
            <ac:spMk id="3" creationId="{82C79BEC-2686-4A47-9AF2-0E8C84302090}"/>
          </ac:spMkLst>
        </pc:spChg>
        <pc:spChg chg="add del mod ord">
          <ac:chgData name="John F. Kim" userId="fe57e153-1e57-44b5-be78-51ae00d5a29c" providerId="ADAL" clId="{B570EB74-9488-43EB-8C7E-F5FFE8D4B866}" dt="2022-04-27T14:51:26.175" v="5" actId="700"/>
          <ac:spMkLst>
            <pc:docMk/>
            <pc:sldMk cId="1588721188" sldId="611"/>
            <ac:spMk id="4" creationId="{CC0BEFCA-83A8-40C2-98A5-3C974B180956}"/>
          </ac:spMkLst>
        </pc:spChg>
        <pc:spChg chg="add del mod ord">
          <ac:chgData name="John F. Kim" userId="fe57e153-1e57-44b5-be78-51ae00d5a29c" providerId="ADAL" clId="{B570EB74-9488-43EB-8C7E-F5FFE8D4B866}" dt="2022-04-27T14:51:26.175" v="5" actId="700"/>
          <ac:spMkLst>
            <pc:docMk/>
            <pc:sldMk cId="1588721188" sldId="611"/>
            <ac:spMk id="5" creationId="{19BF4BE0-4821-4924-92FA-C87B78CE9B01}"/>
          </ac:spMkLst>
        </pc:spChg>
        <pc:spChg chg="add mod ord">
          <ac:chgData name="John F. Kim" userId="fe57e153-1e57-44b5-be78-51ae00d5a29c" providerId="ADAL" clId="{B570EB74-9488-43EB-8C7E-F5FFE8D4B866}" dt="2022-04-27T14:52:38.696" v="72" actId="27636"/>
          <ac:spMkLst>
            <pc:docMk/>
            <pc:sldMk cId="1588721188" sldId="611"/>
            <ac:spMk id="6" creationId="{D194CF23-81BB-4271-9237-1992CD47D81C}"/>
          </ac:spMkLst>
        </pc:spChg>
        <pc:spChg chg="add mod ord">
          <ac:chgData name="John F. Kim" userId="fe57e153-1e57-44b5-be78-51ae00d5a29c" providerId="ADAL" clId="{B570EB74-9488-43EB-8C7E-F5FFE8D4B866}" dt="2022-04-27T14:53:11.835" v="117" actId="6549"/>
          <ac:spMkLst>
            <pc:docMk/>
            <pc:sldMk cId="1588721188" sldId="611"/>
            <ac:spMk id="7" creationId="{C39D2AF2-970A-4B2D-A341-DA5630BBA8CD}"/>
          </ac:spMkLst>
        </pc:spChg>
      </pc:sldChg>
    </pc:docChg>
  </pc:docChgLst>
</pc:chgInfo>
</file>

<file path=ppt/comments/modernComment_25F_B6893F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D9D839-DC86-4FA5-B07D-3CA8599C0A92}" authorId="{253AB777-DCC6-643A-150A-B3A6D2EF1A93}" status="resolved" created="2022-04-05T19:01:31.355" complete="100000">
    <pc:sldMkLst xmlns:pc="http://schemas.microsoft.com/office/powerpoint/2013/main/command">
      <pc:docMk/>
      <pc:sldMk cId="3062447957" sldId="607"/>
    </pc:sldMkLst>
    <p188:txBody>
      <a:bodyPr/>
      <a:lstStyle/>
      <a:p>
        <a:r>
          <a:rPr lang="en-US"/>
          <a:t>The title is way toooo long 😉 
For the purposes of a Gold Deck, simply move the "SNIA" logo and catch phrase center
This is an image, no changes available. 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AE0E1-86DC-9240-B153-81041FDC48D3}" type="datetimeFigureOut">
              <a:rPr lang="en-US" smtClean="0"/>
              <a:t>4/27/2022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A70A-EBC0-A144-9ABC-28C01879D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72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E5F078-CFD7-4E4D-B930-9DDEEF8537BE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86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A70A-EBC0-A144-9ABC-28C01879DD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2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A70A-EBC0-A144-9ABC-28C01879DD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58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A70A-EBC0-A144-9ABC-28C01879DD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20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Provide independent technology education from basics </a:t>
            </a:r>
            <a:br>
              <a:rPr lang="en-US" strike="sngStrike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to advanced techniques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Enable IT professionals to keep abreast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E5F078-CFD7-4E4D-B930-9DDEEF8537BE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6899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@SNIA, @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SNIACloud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@SNIACMSI, @SNIANSF, @SNIASDC, @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SNIASecurity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@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SNIA_India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@SNIA_EMEA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LinkedIn.com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/company/SNIA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SNIAVideo/YouTube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Facebook.com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/SNIA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A70A-EBC0-A144-9ABC-28C01879DD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32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E5F078-CFD7-4E4D-B930-9DDEEF8537BE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703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E2DC51-9230-4F57-9835-09B3FA0C27D8}"/>
              </a:ext>
            </a:extLst>
          </p:cNvPr>
          <p:cNvSpPr/>
          <p:nvPr userDrawn="1"/>
        </p:nvSpPr>
        <p:spPr>
          <a:xfrm>
            <a:off x="-28684" y="3884"/>
            <a:ext cx="2949388" cy="6854116"/>
          </a:xfrm>
          <a:prstGeom prst="rect">
            <a:avLst/>
          </a:prstGeom>
          <a:solidFill>
            <a:srgbClr val="080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BEFEF-0543-4063-AECB-9C64F23279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2141" y="-1"/>
            <a:ext cx="9449859" cy="68541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1B4E715-ABB6-409E-8BF3-A6FBA53E3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756" y="1677978"/>
            <a:ext cx="7292282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E19C952-9650-495D-AE2C-6CC383DA5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756" y="4157653"/>
            <a:ext cx="729228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4854948-CFE5-435B-9C32-80A5DC1B24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7351" y="-60385"/>
            <a:ext cx="12299351" cy="691838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020156-ACC9-46FB-B79E-33819ACAED6E}"/>
              </a:ext>
            </a:extLst>
          </p:cNvPr>
          <p:cNvSpPr/>
          <p:nvPr userDrawn="1"/>
        </p:nvSpPr>
        <p:spPr>
          <a:xfrm>
            <a:off x="188259" y="349624"/>
            <a:ext cx="8148917" cy="6104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68B61A21-7B3A-474A-9DEB-B22E4AB6935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196" y="1614054"/>
            <a:ext cx="4665432" cy="37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6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C2453C9-E49D-4DC9-BAA9-AB2A015E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77" y="365126"/>
            <a:ext cx="11779549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2127677-1E21-43A9-B9F1-EE4270FF4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77" y="1493104"/>
            <a:ext cx="11779548" cy="4473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>
                <a:solidFill>
                  <a:schemeClr val="accent4">
                    <a:lumMod val="50000"/>
                  </a:schemeClr>
                </a:solidFill>
              </a:defRPr>
            </a:lvl3pPr>
            <a:lvl4pPr>
              <a:defRPr>
                <a:solidFill>
                  <a:srgbClr val="261036"/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5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gradFill>
          <a:gsLst>
            <a:gs pos="100000">
              <a:srgbClr val="7030A0"/>
            </a:gs>
            <a:gs pos="20000">
              <a:srgbClr val="080A43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C2453C9-E49D-4DC9-BAA9-AB2A015E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77" y="365126"/>
            <a:ext cx="11779549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2127677-1E21-43A9-B9F1-EE4270FF4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77" y="1493104"/>
            <a:ext cx="11779548" cy="4473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90000"/>
                  </a:schemeClr>
                </a:solidFill>
              </a:defRPr>
            </a:lvl3pPr>
            <a:lvl4pPr>
              <a:defRPr>
                <a:solidFill>
                  <a:srgbClr val="D6BBEB"/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103">
            <a:extLst>
              <a:ext uri="{FF2B5EF4-FFF2-40B4-BE49-F238E27FC236}">
                <a16:creationId xmlns:a16="http://schemas.microsoft.com/office/drawing/2014/main" id="{1423CF05-E431-420B-B1F1-E741BCA8E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355" y="6514718"/>
            <a:ext cx="7382230" cy="211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7147" tIns="28574" rIns="57147" bIns="28574">
            <a:spAutoFit/>
          </a:bodyPr>
          <a:lstStyle>
            <a:lvl1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DC9EEA-9E57-42E3-98D5-87BE28883399}" type="slidenum">
              <a:rPr lang="en-US" sz="1000" kern="1200" smtClean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r>
              <a:rPr lang="en-US" sz="1000" kern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| ©2020 Storage Networking Industry Association. All Rights Reserved.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70F3E1-D94B-464F-800A-49C7EEA96D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4834" y="6400800"/>
            <a:ext cx="739692" cy="39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>
          <a:gsLst>
            <a:gs pos="100000">
              <a:srgbClr val="7030A0"/>
            </a:gs>
            <a:gs pos="20000">
              <a:srgbClr val="080A43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86" y="1709738"/>
            <a:ext cx="8229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  <a:latin typeface="HelvNeue for IBM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886" y="4589463"/>
            <a:ext cx="8229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  <a:latin typeface="HelvNeue for IBM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70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 userDrawn="1"/>
        </p:nvSpPr>
        <p:spPr>
          <a:xfrm>
            <a:off x="153512" y="365125"/>
            <a:ext cx="119072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HelvNeue for IBM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4A088-073F-4091-8A23-99FF99D8BD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7435" y="0"/>
            <a:ext cx="12209435" cy="2286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77A644C-7CBF-4378-88C4-12C79CD4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86" y="2651125"/>
            <a:ext cx="11873850" cy="191135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552D80"/>
                </a:solidFill>
                <a:latin typeface="HelvNeue for IBM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1B7492E-018A-4D48-9874-5BED8CF24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886" y="4589463"/>
            <a:ext cx="1187385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HelvNeue for IBM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4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2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80A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BE128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2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26103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rgbClr val="BE128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F1680D8-7410-4C49-81FE-8B873AA3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77" y="365126"/>
            <a:ext cx="11779549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4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8F60161-384A-46E3-8975-0FC963DE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77" y="365126"/>
            <a:ext cx="11779549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42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89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above)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6917" y="451905"/>
            <a:ext cx="5966369" cy="1219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3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/3)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93792"/>
            <a:ext cx="3779520" cy="56290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60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/4)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00466"/>
            <a:ext cx="2804160" cy="56223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69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0444"/>
            <a:ext cx="5730240" cy="28992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996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above) + content (3-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29895"/>
            <a:ext cx="3779520" cy="43226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8025536" y="1629895"/>
            <a:ext cx="3779520" cy="43226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168935" y="1629895"/>
            <a:ext cx="3779520" cy="432265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1F7F1C-CF54-4526-B462-C91CE890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77" y="365126"/>
            <a:ext cx="11779549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25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4FF6D35-55BA-40D4-81EA-7247108C2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7351" y="-60385"/>
            <a:ext cx="12299351" cy="69183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4D493B-224A-41D7-B69C-42EEF44424D6}"/>
              </a:ext>
            </a:extLst>
          </p:cNvPr>
          <p:cNvSpPr/>
          <p:nvPr userDrawn="1"/>
        </p:nvSpPr>
        <p:spPr>
          <a:xfrm>
            <a:off x="188259" y="349624"/>
            <a:ext cx="8148917" cy="6104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9532D8EF-58A0-432A-AB27-99D4404FA3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196" y="1614054"/>
            <a:ext cx="4665432" cy="37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6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977" y="365126"/>
            <a:ext cx="11779549" cy="7954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E1EAE4-237E-4D95-AB07-20D1B16547C9}"/>
              </a:ext>
            </a:extLst>
          </p:cNvPr>
          <p:cNvCxnSpPr>
            <a:cxnSpLocks/>
          </p:cNvCxnSpPr>
          <p:nvPr userDrawn="1"/>
        </p:nvCxnSpPr>
        <p:spPr>
          <a:xfrm>
            <a:off x="154355" y="6358023"/>
            <a:ext cx="11880171" cy="0"/>
          </a:xfrm>
          <a:prstGeom prst="line">
            <a:avLst/>
          </a:prstGeom>
          <a:ln w="44450">
            <a:gradFill flip="none" rotWithShape="1">
              <a:gsLst>
                <a:gs pos="0">
                  <a:srgbClr val="BE1281"/>
                </a:gs>
                <a:gs pos="100000">
                  <a:schemeClr val="accent4">
                    <a:lumMod val="75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03">
            <a:extLst>
              <a:ext uri="{FF2B5EF4-FFF2-40B4-BE49-F238E27FC236}">
                <a16:creationId xmlns:a16="http://schemas.microsoft.com/office/drawing/2014/main" id="{44DF209A-77BB-43ED-A447-FB57C4E9EF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355" y="6514718"/>
            <a:ext cx="7382230" cy="211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7147" tIns="28574" rIns="57147" bIns="28574">
            <a:spAutoFit/>
          </a:bodyPr>
          <a:lstStyle>
            <a:lvl1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13065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13065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DC9EEA-9E57-42E3-98D5-87BE28883399}" type="slidenum">
              <a:rPr lang="en-US" sz="1000" kern="1200" smtClean="0">
                <a:solidFill>
                  <a:srgbClr val="552D8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r>
              <a:rPr lang="en-US" sz="1000" kern="1200" dirty="0">
                <a:solidFill>
                  <a:srgbClr val="552D8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| ©2022 Storage Networking Industry Association. All Rights Reserved.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FC60219-C72F-4708-96AB-03049170858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294832" y="6400800"/>
            <a:ext cx="739693" cy="3931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DB211-ADF9-4845-BFA5-3DA29D4B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977" y="1493104"/>
            <a:ext cx="11779548" cy="4708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10A052-5B0A-4DED-8AB4-73CE100DBD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7435" y="0"/>
            <a:ext cx="1220943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8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16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1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562F7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7030A0"/>
        </a:buClr>
        <a:buFont typeface="Wingdings" panose="05000000000000000000" pitchFamily="2" charset="2"/>
        <a:buChar char="§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7030A0"/>
        </a:buClr>
        <a:buFont typeface="Wingdings" panose="05000000000000000000" pitchFamily="2" charset="2"/>
        <a:buChar char="§"/>
        <a:defRPr sz="2400" b="0" i="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7030A0"/>
        </a:buClr>
        <a:buFont typeface="Wingdings" panose="05000000000000000000" pitchFamily="2" charset="2"/>
        <a:buChar char="§"/>
        <a:defRPr sz="2000" b="0" i="0" kern="1200">
          <a:solidFill>
            <a:schemeClr val="accent4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7030A0"/>
        </a:buClr>
        <a:buFont typeface="Wingdings" panose="05000000000000000000" pitchFamily="2" charset="2"/>
        <a:buChar char="§"/>
        <a:defRPr sz="1800" b="0" i="0" kern="1200">
          <a:solidFill>
            <a:srgbClr val="080A4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7030A0"/>
        </a:buClr>
        <a:buFont typeface="Wingdings" panose="05000000000000000000" pitchFamily="2" charset="2"/>
        <a:buChar char="§"/>
        <a:defRPr sz="1800" b="0" i="0" kern="1200">
          <a:solidFill>
            <a:schemeClr val="bg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5F_B6893F5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nia.org/education/online-dictionary" TargetMode="External"/><Relationship Id="rId3" Type="http://schemas.openxmlformats.org/officeDocument/2006/relationships/hyperlink" Target="https://www.snia.org/educational-library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hyperlink" Target="https://www.snia.org/education/online-dictionary/T" TargetMode="External"/><Relationship Id="rId4" Type="http://schemas.openxmlformats.org/officeDocument/2006/relationships/hyperlink" Target="https://www.youtube.com/channel/UCUMgmcine5M4aKNI8XA5vFw" TargetMode="Externa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www.snia.org/international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hyperlink" Target="http://https/www.snia.org" TargetMode="External"/><Relationship Id="rId10" Type="http://schemas.openxmlformats.org/officeDocument/2006/relationships/hyperlink" Target="https://sniablog.org/" TargetMode="External"/><Relationship Id="rId4" Type="http://schemas.openxmlformats.org/officeDocument/2006/relationships/hyperlink" Target="https://www.snia.org/" TargetMode="External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3A58B2-7745-4F0A-944E-D8EB81DFDFF5}"/>
              </a:ext>
            </a:extLst>
          </p:cNvPr>
          <p:cNvSpPr/>
          <p:nvPr/>
        </p:nvSpPr>
        <p:spPr>
          <a:xfrm>
            <a:off x="188259" y="349624"/>
            <a:ext cx="8148917" cy="6104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90F1441F-0FEA-2B48-8111-6A3DBA621D3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196" y="1614054"/>
            <a:ext cx="4665432" cy="371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479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94CF23-81BB-4271-9237-1992CD47D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756" y="1511929"/>
            <a:ext cx="7292282" cy="271224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SNIA Connects </a:t>
            </a:r>
            <a:r>
              <a:rPr lang="en-US" dirty="0" err="1">
                <a:solidFill>
                  <a:schemeClr val="tx1"/>
                </a:solidFill>
              </a:rPr>
              <a:t>SmartNICs</a:t>
            </a:r>
            <a:r>
              <a:rPr lang="en-US" dirty="0">
                <a:solidFill>
                  <a:schemeClr val="tx1"/>
                </a:solidFill>
              </a:rPr>
              <a:t> and Storage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39D2AF2-970A-4B2D-A341-DA5630BBA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756" y="4224179"/>
            <a:ext cx="7292282" cy="1655762"/>
          </a:xfrm>
          <a:solidFill>
            <a:schemeClr val="bg1"/>
          </a:solidFill>
        </p:spPr>
        <p:txBody>
          <a:bodyPr/>
          <a:lstStyle/>
          <a:p>
            <a:r>
              <a:rPr lang="en-US" dirty="0" err="1"/>
              <a:t>SmartNIC</a:t>
            </a:r>
            <a:r>
              <a:rPr lang="en-US" dirty="0"/>
              <a:t> Summit</a:t>
            </a:r>
          </a:p>
          <a:p>
            <a:r>
              <a:rPr lang="en-US" dirty="0"/>
              <a:t>April 27, 2022</a:t>
            </a:r>
          </a:p>
        </p:txBody>
      </p:sp>
    </p:spTree>
    <p:extLst>
      <p:ext uri="{BB962C8B-B14F-4D97-AF65-F5344CB8AC3E}">
        <p14:creationId xmlns:p14="http://schemas.microsoft.com/office/powerpoint/2010/main" val="158872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772D8-EBEF-6F48-A01A-2240B89C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76" y="1493105"/>
            <a:ext cx="10836157" cy="3337080"/>
          </a:xfrm>
        </p:spPr>
        <p:txBody>
          <a:bodyPr>
            <a:normAutofit/>
          </a:bodyPr>
          <a:lstStyle/>
          <a:p>
            <a:pPr>
              <a:spcBef>
                <a:spcPts val="110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</a:rPr>
              <a:t>It is the worldwide trusted authority for “all things storage”</a:t>
            </a:r>
          </a:p>
          <a:p>
            <a:pPr>
              <a:spcBef>
                <a:spcPts val="110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</a:rPr>
              <a:t>Develops industry-leading architectures and standards</a:t>
            </a:r>
          </a:p>
          <a:p>
            <a:pPr>
              <a:spcBef>
                <a:spcPts val="110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</a:rPr>
              <a:t>Delivers vendor-neutral educational content and events</a:t>
            </a:r>
          </a:p>
          <a:p>
            <a:pPr>
              <a:spcBef>
                <a:spcPts val="110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</a:rPr>
              <a:t>The collaborative industry association for storage companies</a:t>
            </a:r>
          </a:p>
        </p:txBody>
      </p:sp>
      <p:pic>
        <p:nvPicPr>
          <p:cNvPr id="5" name="Picture 4" descr="Icon&#10;&#10;Description automatically generated with medium confidence">
            <a:extLst>
              <a:ext uri="{FF2B5EF4-FFF2-40B4-BE49-F238E27FC236}">
                <a16:creationId xmlns:a16="http://schemas.microsoft.com/office/drawing/2014/main" id="{CCC97B70-971D-4DA9-9F61-54155D7A8CB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2210" y="4677982"/>
            <a:ext cx="4750194" cy="152956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AEA28DB-1D24-2241-BCC6-103174E1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SNIA: Storage Networking Industry Association</a:t>
            </a:r>
          </a:p>
        </p:txBody>
      </p:sp>
    </p:spTree>
    <p:extLst>
      <p:ext uri="{BB962C8B-B14F-4D97-AF65-F5344CB8AC3E}">
        <p14:creationId xmlns:p14="http://schemas.microsoft.com/office/powerpoint/2010/main" val="188431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B0B2-864B-4981-B80B-EFD6BB21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SNIA By The Numbers</a:t>
            </a:r>
          </a:p>
        </p:txBody>
      </p:sp>
      <p:pic>
        <p:nvPicPr>
          <p:cNvPr id="7" name="Picture 6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658AD521-6ACE-4B3E-8D84-5028B48F3E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0743" y="1430941"/>
            <a:ext cx="11570514" cy="447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66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A54FC9E-DC50-47A3-8D24-0B6F29C408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0667" y="1558531"/>
            <a:ext cx="5631333" cy="434741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61C477C7-44BD-4446-90CE-0042C6296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Current Storage Technologies in Focus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1F0D03A-2A7D-EB41-97EB-6CB8C9DE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182013"/>
            <a:ext cx="5567304" cy="510045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200" dirty="0"/>
              <a:t>Blockchain Data and Storage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Cloud Data Management (CDMI™)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Computational Storage Architecture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DNA Storage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Green Storage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Key Value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LTFS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NVMe ®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NVMe-oF™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Scalable Storage Management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SIRF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Smart Data Accelerator Interface (SDXI)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Solid State Storage</a:t>
            </a:r>
          </a:p>
          <a:p>
            <a:pPr>
              <a:spcBef>
                <a:spcPts val="0"/>
              </a:spcBef>
            </a:pPr>
            <a:r>
              <a:rPr lang="en-US" sz="2200" dirty="0" err="1">
                <a:highlight>
                  <a:srgbClr val="FFFF00"/>
                </a:highlight>
              </a:rPr>
              <a:t>xPU</a:t>
            </a:r>
            <a:endParaRPr lang="en-US" sz="2200" dirty="0">
              <a:highlight>
                <a:srgbClr val="FFFF00"/>
              </a:highlight>
            </a:endParaRPr>
          </a:p>
          <a:p>
            <a:pPr>
              <a:spcBef>
                <a:spcPts val="0"/>
              </a:spcBef>
            </a:pPr>
            <a:r>
              <a:rPr lang="en-US" sz="2200" dirty="0"/>
              <a:t>Zoned Storage</a:t>
            </a:r>
          </a:p>
          <a:p>
            <a:pPr>
              <a:spcBef>
                <a:spcPts val="0"/>
              </a:spcBef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22970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Bedrock of Storage Education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7161D1B-3E32-F045-A327-D0ADE2599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77" y="1493104"/>
            <a:ext cx="8445678" cy="466027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SNIA is a worldwide source for vendor-neutral Storage and Information Management Technologies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Searchable </a:t>
            </a:r>
            <a:r>
              <a:rPr lang="en-US" sz="2400" dirty="0">
                <a:hlinkClick r:id="rId3"/>
              </a:rPr>
              <a:t>Educational Library</a:t>
            </a:r>
            <a:endParaRPr lang="en-US" sz="2400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Technical White Papers and Industry Advisories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Webcasts, </a:t>
            </a:r>
            <a:r>
              <a:rPr lang="en-US" sz="2400" dirty="0">
                <a:hlinkClick r:id="rId4"/>
              </a:rPr>
              <a:t>Videos</a:t>
            </a:r>
            <a:r>
              <a:rPr lang="en-US" sz="2400" dirty="0"/>
              <a:t>, and Podcasts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SNIA Blogs and Articles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Industry-recognized Storage/IT </a:t>
            </a:r>
            <a:r>
              <a:rPr lang="en-US" sz="2400" dirty="0">
                <a:hlinkClick r:id="rId5"/>
              </a:rPr>
              <a:t>Dictionary</a:t>
            </a:r>
            <a:endParaRPr lang="en-US" sz="2400" dirty="0"/>
          </a:p>
        </p:txBody>
      </p:sp>
      <p:pic>
        <p:nvPicPr>
          <p:cNvPr id="2050" name="Picture 2">
            <a:hlinkClick r:id="rId3"/>
            <a:extLst>
              <a:ext uri="{FF2B5EF4-FFF2-40B4-BE49-F238E27FC236}">
                <a16:creationId xmlns:a16="http://schemas.microsoft.com/office/drawing/2014/main" id="{14B6E6C4-245E-5544-892D-6ED51ED57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8582" y="1492783"/>
            <a:ext cx="3085933" cy="107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hlinkClick r:id="rId4"/>
            <a:extLst>
              <a:ext uri="{FF2B5EF4-FFF2-40B4-BE49-F238E27FC236}">
                <a16:creationId xmlns:a16="http://schemas.microsoft.com/office/drawing/2014/main" id="{B69E9920-FDE5-8541-9A6D-1813D4F95B6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3651" y="3050909"/>
            <a:ext cx="2795791" cy="772330"/>
          </a:xfrm>
          <a:prstGeom prst="rect">
            <a:avLst/>
          </a:prstGeom>
        </p:spPr>
      </p:pic>
      <p:pic>
        <p:nvPicPr>
          <p:cNvPr id="21" name="Picture 20">
            <a:hlinkClick r:id="rId8"/>
            <a:extLst>
              <a:ext uri="{FF2B5EF4-FFF2-40B4-BE49-F238E27FC236}">
                <a16:creationId xmlns:a16="http://schemas.microsoft.com/office/drawing/2014/main" id="{7189ABD6-48BD-B14C-A7C2-5AEE0347B74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3651" y="4442742"/>
            <a:ext cx="2795791" cy="1193487"/>
          </a:xfrm>
          <a:prstGeom prst="rect">
            <a:avLst/>
          </a:prstGeom>
        </p:spPr>
      </p:pic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292769-84E9-7840-AC3E-BF8A766F456A}"/>
              </a:ext>
            </a:extLst>
          </p:cNvPr>
          <p:cNvSpPr txBox="1">
            <a:spLocks/>
          </p:cNvSpPr>
          <p:nvPr/>
        </p:nvSpPr>
        <p:spPr>
          <a:xfrm>
            <a:off x="6178437" y="4727970"/>
            <a:ext cx="8241798" cy="2442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2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2000" b="0" i="0" kern="120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1800" b="0" i="0" kern="1200">
                <a:solidFill>
                  <a:srgbClr val="261036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18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3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1ABE-BCA0-4D58-8B36-8C0D5851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Ways </a:t>
            </a:r>
            <a:r>
              <a:rPr lang="en-US" dirty="0" err="1"/>
              <a:t>SmartNICs</a:t>
            </a:r>
            <a:r>
              <a:rPr lang="en-US" dirty="0"/>
              <a:t> Advance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7E328-CBD9-49D6-B3D2-C0984A8EF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Networking</a:t>
            </a:r>
          </a:p>
          <a:p>
            <a:endParaRPr lang="en-US" dirty="0"/>
          </a:p>
          <a:p>
            <a:r>
              <a:rPr lang="en-US" dirty="0"/>
              <a:t>Software-Defined Storage / HCI</a:t>
            </a:r>
          </a:p>
          <a:p>
            <a:endParaRPr lang="en-US" dirty="0"/>
          </a:p>
          <a:p>
            <a:r>
              <a:rPr lang="en-US" dirty="0"/>
              <a:t>Virtualization / Cloud</a:t>
            </a:r>
          </a:p>
          <a:p>
            <a:endParaRPr lang="en-US" dirty="0"/>
          </a:p>
          <a:p>
            <a:r>
              <a:rPr lang="en-US" dirty="0"/>
              <a:t>Security</a:t>
            </a:r>
          </a:p>
          <a:p>
            <a:endParaRPr lang="en-US" dirty="0"/>
          </a:p>
          <a:p>
            <a:r>
              <a:rPr lang="en-US" dirty="0"/>
              <a:t>Computational Storage</a:t>
            </a:r>
          </a:p>
        </p:txBody>
      </p:sp>
      <p:pic>
        <p:nvPicPr>
          <p:cNvPr id="5" name="Google Shape;972;p14" descr="A close up of a sign&#10;&#10;Description automatically generated">
            <a:extLst>
              <a:ext uri="{FF2B5EF4-FFF2-40B4-BE49-F238E27FC236}">
                <a16:creationId xmlns:a16="http://schemas.microsoft.com/office/drawing/2014/main" id="{0C814252-F106-4424-A909-8F69519308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44672" y="4053091"/>
            <a:ext cx="1096712" cy="114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60;p14">
            <a:extLst>
              <a:ext uri="{FF2B5EF4-FFF2-40B4-BE49-F238E27FC236}">
                <a16:creationId xmlns:a16="http://schemas.microsoft.com/office/drawing/2014/main" id="{59FD752C-1447-4A06-8742-AF4BD7761FC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rgbClr val="261036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327626" y="4745084"/>
            <a:ext cx="1340895" cy="1366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70;p14" descr="A picture containing light, drawing&#10;&#10;Description automatically generated">
            <a:extLst>
              <a:ext uri="{FF2B5EF4-FFF2-40B4-BE49-F238E27FC236}">
                <a16:creationId xmlns:a16="http://schemas.microsoft.com/office/drawing/2014/main" id="{C3AEE95A-5C60-4169-B508-80B26BD191F2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bg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491572" y="2811805"/>
            <a:ext cx="1340894" cy="149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picture containing dark, night, person, star&#10;&#10;Description automatically generated">
            <a:extLst>
              <a:ext uri="{FF2B5EF4-FFF2-40B4-BE49-F238E27FC236}">
                <a16:creationId xmlns:a16="http://schemas.microsoft.com/office/drawing/2014/main" id="{9688F416-E265-4109-BFBB-59507BA9DFB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28936" y="2002315"/>
            <a:ext cx="1212448" cy="1212448"/>
          </a:xfrm>
          <a:prstGeom prst="rect">
            <a:avLst/>
          </a:prstGeom>
        </p:spPr>
      </p:pic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D3F58D95-E6F7-4406-94C5-238D32D33BF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62297" y="4899383"/>
            <a:ext cx="1212448" cy="1212448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E1EBCBEB-1E37-434A-A644-AF374A8D0B1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20018" y="1223273"/>
            <a:ext cx="1212448" cy="121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3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50022-76B0-5C44-B545-506FC699C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SNIA Work on xPUs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8BD7A-E20C-034B-BD55-3F2D95210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977" y="1493104"/>
            <a:ext cx="5159986" cy="44737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SNIA </a:t>
            </a:r>
            <a:r>
              <a:rPr lang="en-US" dirty="0" err="1"/>
              <a:t>xPU</a:t>
            </a:r>
            <a:r>
              <a:rPr lang="en-US" dirty="0"/>
              <a:t> Task Force</a:t>
            </a:r>
          </a:p>
          <a:p>
            <a:r>
              <a:rPr lang="en-US" dirty="0"/>
              <a:t>Upcoming 3-Part Webcast Series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SmartNICs to xPUs: Why is the Use of Accelerators Accelerating?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xPU</a:t>
            </a:r>
            <a:r>
              <a:rPr lang="en-US" dirty="0"/>
              <a:t> Accelerator Offload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Deployment and Solutions Deep Dive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45044-3D7F-2640-9237-67517C9B80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3650" y="521554"/>
            <a:ext cx="5451473" cy="3543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F28037-59B2-1543-ADEB-8443A3352E1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3733" y="4510326"/>
            <a:ext cx="1905000" cy="190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30D4B4-FDEF-894F-B1A1-C1AAD42BEAC4}"/>
              </a:ext>
            </a:extLst>
          </p:cNvPr>
          <p:cNvSpPr txBox="1"/>
          <p:nvPr/>
        </p:nvSpPr>
        <p:spPr>
          <a:xfrm>
            <a:off x="7801755" y="4221037"/>
            <a:ext cx="2148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Register Here</a:t>
            </a:r>
          </a:p>
        </p:txBody>
      </p:sp>
    </p:spTree>
    <p:extLst>
      <p:ext uri="{BB962C8B-B14F-4D97-AF65-F5344CB8AC3E}">
        <p14:creationId xmlns:p14="http://schemas.microsoft.com/office/powerpoint/2010/main" val="343022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07DD2-22B6-0243-A3D3-D8CC07551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910" y="1548838"/>
            <a:ext cx="3878086" cy="481486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hlinkClick r:id="rId3"/>
              </a:rPr>
              <a:t>SNIA</a:t>
            </a:r>
            <a:r>
              <a:rPr lang="en-US" sz="2800" dirty="0">
                <a:solidFill>
                  <a:schemeClr val="accent1"/>
                </a:solidFill>
              </a:rPr>
              <a:t> International</a:t>
            </a:r>
            <a:r>
              <a:rPr lang="en-US" sz="2800" dirty="0"/>
              <a:t>	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1B4A0C-9B1F-204F-A7E2-1908D8D24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239" y="2150455"/>
            <a:ext cx="2492487" cy="1907044"/>
          </a:xfrm>
        </p:spPr>
        <p:txBody>
          <a:bodyPr>
            <a:normAutofit/>
          </a:bodyPr>
          <a:lstStyle/>
          <a:p>
            <a:r>
              <a:rPr lang="en-US" sz="2000" dirty="0"/>
              <a:t>SNIA Brazil</a:t>
            </a:r>
          </a:p>
          <a:p>
            <a:r>
              <a:rPr lang="en-US" sz="2000" dirty="0"/>
              <a:t>SNIA EMEA</a:t>
            </a:r>
          </a:p>
          <a:p>
            <a:r>
              <a:rPr lang="en-US" sz="2000" dirty="0"/>
              <a:t>SNIA India</a:t>
            </a:r>
          </a:p>
          <a:p>
            <a:r>
              <a:rPr lang="en-US" sz="2000" dirty="0"/>
              <a:t>SNIA Japan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2347DE-181A-D44B-A869-343E3EE3C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658556" y="1548838"/>
            <a:ext cx="3115030" cy="481486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accent1"/>
                </a:solidFill>
                <a:hlinkClick r:id="rId4"/>
              </a:rPr>
              <a:t>Discover</a:t>
            </a:r>
            <a:r>
              <a:rPr lang="en-US" sz="2800" dirty="0">
                <a:solidFill>
                  <a:schemeClr val="accent1"/>
                </a:solidFill>
              </a:rPr>
              <a:t> SNIA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760602-12DE-C549-B142-CE61D8499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665186" y="2067709"/>
            <a:ext cx="3206405" cy="2945357"/>
          </a:xfrm>
        </p:spPr>
        <p:txBody>
          <a:bodyPr>
            <a:normAutofit/>
          </a:bodyPr>
          <a:lstStyle/>
          <a:p>
            <a:r>
              <a:rPr lang="en-US" sz="2000" dirty="0"/>
              <a:t>Standards</a:t>
            </a:r>
          </a:p>
          <a:p>
            <a:r>
              <a:rPr lang="en-US" sz="2000" dirty="0"/>
              <a:t>Education</a:t>
            </a:r>
          </a:p>
          <a:p>
            <a:r>
              <a:rPr lang="en-US" sz="2000" dirty="0"/>
              <a:t>Technology Focus Areas</a:t>
            </a:r>
          </a:p>
          <a:p>
            <a:r>
              <a:rPr lang="en-US" sz="2000" dirty="0"/>
              <a:t>News &amp; Events</a:t>
            </a:r>
          </a:p>
          <a:p>
            <a:r>
              <a:rPr lang="en-US" sz="2000" dirty="0"/>
              <a:t>Resources</a:t>
            </a:r>
          </a:p>
          <a:p>
            <a:r>
              <a:rPr lang="en-US" sz="2000" dirty="0"/>
              <a:t>Membership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A0D6DD-DA21-524C-AE5A-942EC742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Engage with </a:t>
            </a:r>
            <a:r>
              <a:rPr lang="en-US" sz="4000" dirty="0">
                <a:solidFill>
                  <a:srgbClr val="7030A0"/>
                </a:solidFill>
              </a:rPr>
              <a:t>SNIA                      Visit: </a:t>
            </a:r>
            <a:r>
              <a:rPr lang="en-US" sz="4000" dirty="0">
                <a:solidFill>
                  <a:srgbClr val="7030A0"/>
                </a:solidFill>
                <a:hlinkClick r:id="rId5"/>
              </a:rPr>
              <a:t>SNIA.ORG</a:t>
            </a:r>
            <a:endParaRPr lang="en-US" sz="4000" dirty="0">
              <a:solidFill>
                <a:srgbClr val="7030A0"/>
              </a:solidFill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12A60370-200F-407B-910D-4C20784CF7F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1821" y="4994687"/>
            <a:ext cx="997167" cy="997167"/>
          </a:xfrm>
          <a:prstGeom prst="rect">
            <a:avLst/>
          </a:prstGeom>
        </p:spPr>
      </p:pic>
      <p:pic>
        <p:nvPicPr>
          <p:cNvPr id="1026" name="Picture 2" descr=" icon">
            <a:extLst>
              <a:ext uri="{FF2B5EF4-FFF2-40B4-BE49-F238E27FC236}">
                <a16:creationId xmlns:a16="http://schemas.microsoft.com/office/drawing/2014/main" id="{5D869E12-ACD5-4FE9-8A60-91870D1F6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9600" y="5108203"/>
            <a:ext cx="761122" cy="761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weet, twitter, twitter logo icon - Free download">
            <a:extLst>
              <a:ext uri="{FF2B5EF4-FFF2-40B4-BE49-F238E27FC236}">
                <a16:creationId xmlns:a16="http://schemas.microsoft.com/office/drawing/2014/main" id="{7757CDE4-9D9E-4A68-AA66-C2CD664B0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15697" y="5152269"/>
            <a:ext cx="707531" cy="70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72243C4-189C-4603-B55D-0519FAC3C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2540" y="5144660"/>
            <a:ext cx="707531" cy="70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2781CCA-9FB4-734F-A324-D63DC8F973F9}"/>
              </a:ext>
            </a:extLst>
          </p:cNvPr>
          <p:cNvSpPr txBox="1">
            <a:spLocks/>
          </p:cNvSpPr>
          <p:nvPr/>
        </p:nvSpPr>
        <p:spPr>
          <a:xfrm>
            <a:off x="4453013" y="1466796"/>
            <a:ext cx="3878086" cy="576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7030A0"/>
              </a:buClr>
              <a:buFont typeface="Wingdings" panose="05000000000000000000" pitchFamily="2" charset="2"/>
              <a:buNone/>
              <a:defRPr sz="3200" b="1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None/>
              <a:defRPr sz="2000" b="1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None/>
              <a:defRPr sz="1800" b="1" i="0" kern="120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None/>
              <a:defRPr sz="1600" b="1" i="0" kern="1200">
                <a:solidFill>
                  <a:srgbClr val="080A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None/>
              <a:defRPr sz="1600" b="1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1"/>
                </a:solidFill>
                <a:hlinkClick r:id="rId10"/>
              </a:rPr>
              <a:t>SNIA</a:t>
            </a:r>
            <a:r>
              <a:rPr lang="en-US" sz="2800" dirty="0">
                <a:solidFill>
                  <a:schemeClr val="accent1"/>
                </a:solidFill>
              </a:rPr>
              <a:t> Blogs</a:t>
            </a:r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004C4540-5F43-FC4D-959E-C5E282FBEC98}"/>
              </a:ext>
            </a:extLst>
          </p:cNvPr>
          <p:cNvSpPr txBox="1">
            <a:spLocks/>
          </p:cNvSpPr>
          <p:nvPr/>
        </p:nvSpPr>
        <p:spPr>
          <a:xfrm>
            <a:off x="4453013" y="2088320"/>
            <a:ext cx="3878086" cy="2601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2400" b="0" i="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2000" b="0" i="0" kern="1200">
                <a:solidFill>
                  <a:srgbClr val="080A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1800" b="0" i="0" kern="1200">
                <a:solidFill>
                  <a:srgbClr val="BE128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7030A0"/>
              </a:buClr>
              <a:buFont typeface="Wingdings" panose="05000000000000000000" pitchFamily="2" charset="2"/>
              <a:buChar char="§"/>
              <a:defRPr sz="18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SNIA on Storage</a:t>
            </a:r>
          </a:p>
          <a:p>
            <a:r>
              <a:rPr lang="en-US" sz="2000" dirty="0"/>
              <a:t>Cloud Storage</a:t>
            </a:r>
          </a:p>
          <a:p>
            <a:r>
              <a:rPr lang="en-US" sz="2000" dirty="0"/>
              <a:t>Network Storage</a:t>
            </a:r>
          </a:p>
          <a:p>
            <a:r>
              <a:rPr lang="en-US" sz="2000" dirty="0"/>
              <a:t>Compute, Memory &amp; Storage</a:t>
            </a:r>
          </a:p>
          <a:p>
            <a:r>
              <a:rPr lang="en-US" sz="2000" dirty="0"/>
              <a:t>Storage Management</a:t>
            </a:r>
          </a:p>
        </p:txBody>
      </p:sp>
    </p:spTree>
    <p:extLst>
      <p:ext uri="{BB962C8B-B14F-4D97-AF65-F5344CB8AC3E}">
        <p14:creationId xmlns:p14="http://schemas.microsoft.com/office/powerpoint/2010/main" val="842203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BDDE-A789-40FD-B0D4-6C63A0CD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75" y="3023754"/>
            <a:ext cx="11873850" cy="113347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91569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SNIA Hosted Global Events 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396A641D-0907-4A3D-B198-1AFE41AA6FD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6372" y="4091681"/>
            <a:ext cx="4231785" cy="1276350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962AD82-0ED0-496F-90C3-1562AFC81DD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4029" y="1160586"/>
            <a:ext cx="3251268" cy="1842385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A6F31FE9-A1A6-4E26-BFA4-44DA2CB7364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463" y="1922500"/>
            <a:ext cx="3414227" cy="1837993"/>
          </a:xfrm>
          <a:prstGeom prst="rect">
            <a:avLst/>
          </a:prstGeom>
        </p:spPr>
      </p:pic>
      <p:pic>
        <p:nvPicPr>
          <p:cNvPr id="14" name="Picture 13" descr="Text, logo&#10;&#10;Description automatically generated">
            <a:extLst>
              <a:ext uri="{FF2B5EF4-FFF2-40B4-BE49-F238E27FC236}">
                <a16:creationId xmlns:a16="http://schemas.microsoft.com/office/drawing/2014/main" id="{C62ABFC7-E8D2-4E47-9A5A-F5F926D0B22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351" y="1988552"/>
            <a:ext cx="3251268" cy="1771941"/>
          </a:xfrm>
          <a:prstGeom prst="rect">
            <a:avLst/>
          </a:prstGeom>
        </p:spPr>
      </p:pic>
      <p:pic>
        <p:nvPicPr>
          <p:cNvPr id="18" name="Picture 17" descr="Text&#10;&#10;Description automatically generated with medium confidence">
            <a:extLst>
              <a:ext uri="{FF2B5EF4-FFF2-40B4-BE49-F238E27FC236}">
                <a16:creationId xmlns:a16="http://schemas.microsoft.com/office/drawing/2014/main" id="{09D5F116-21BF-4826-9028-912EE147825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0216" y="3995218"/>
            <a:ext cx="4411402" cy="13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02667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SNIA">
      <a:dk1>
        <a:srgbClr val="000000"/>
      </a:dk1>
      <a:lt1>
        <a:sysClr val="window" lastClr="FFFFFF"/>
      </a:lt1>
      <a:dk2>
        <a:srgbClr val="7030A0"/>
      </a:dk2>
      <a:lt2>
        <a:srgbClr val="E7E6E6"/>
      </a:lt2>
      <a:accent1>
        <a:srgbClr val="006CBD"/>
      </a:accent1>
      <a:accent2>
        <a:srgbClr val="1D9EFF"/>
      </a:accent2>
      <a:accent3>
        <a:srgbClr val="B0DDFF"/>
      </a:accent3>
      <a:accent4>
        <a:srgbClr val="7CC7FF"/>
      </a:accent4>
      <a:accent5>
        <a:srgbClr val="C7A2E3"/>
      </a:accent5>
      <a:accent6>
        <a:srgbClr val="DB258D"/>
      </a:accent6>
      <a:hlink>
        <a:srgbClr val="1D9EFF"/>
      </a:hlink>
      <a:folHlink>
        <a:srgbClr val="B0DD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83A2E21-0E09-D34D-95AD-9B902B0A3530}" vid="{A97828DB-84A3-BB43-9304-EC2BF93933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3_Office Theme</Template>
  <TotalTime>14211</TotalTime>
  <Words>308</Words>
  <Application>Microsoft Office PowerPoint</Application>
  <PresentationFormat>Widescreen</PresentationFormat>
  <Paragraphs>83</Paragraphs>
  <Slides>11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HelvNeue for IBM</vt:lpstr>
      <vt:lpstr>Wingdings</vt:lpstr>
      <vt:lpstr>3_Office Theme</vt:lpstr>
      <vt:lpstr>PowerPoint Presentation</vt:lpstr>
      <vt:lpstr>SNIA Connects SmartNICs and Storage</vt:lpstr>
      <vt:lpstr>SNIA: Storage Networking Industry Association</vt:lpstr>
      <vt:lpstr>SNIA By The Numbers</vt:lpstr>
      <vt:lpstr>Current Storage Technologies in Focus</vt:lpstr>
      <vt:lpstr>The Bedrock of Storage Education</vt:lpstr>
      <vt:lpstr>Five Ways SmartNICs Advance Storage</vt:lpstr>
      <vt:lpstr>SNIA Work on xPUs</vt:lpstr>
      <vt:lpstr>Engage with SNIA                      Visit: SNIA.ORG</vt:lpstr>
      <vt:lpstr>Thank You</vt:lpstr>
      <vt:lpstr>SNIA Hosted Global Events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the Storage Networking Industry Association</dc:title>
  <dc:creator>Denise Ridolfo</dc:creator>
  <cp:lastModifiedBy>John F. Kim</cp:lastModifiedBy>
  <cp:revision>82</cp:revision>
  <dcterms:created xsi:type="dcterms:W3CDTF">2020-08-17T21:11:00Z</dcterms:created>
  <dcterms:modified xsi:type="dcterms:W3CDTF">2022-04-27T16:59:03Z</dcterms:modified>
</cp:coreProperties>
</file>